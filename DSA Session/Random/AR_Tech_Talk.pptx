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FFC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64008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TALK   ·   10 MIN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AUGMENTED REALITY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736092" y="329641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Shape 4"/>
          <p:cNvSpPr/>
          <p:nvPr/>
        </p:nvSpPr>
        <p:spPr>
          <a:xfrm>
            <a:off x="918972" y="3296412"/>
            <a:ext cx="82296" cy="82296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8" name="Shape 5"/>
          <p:cNvSpPr/>
          <p:nvPr/>
        </p:nvSpPr>
        <p:spPr>
          <a:xfrm>
            <a:off x="1101852" y="3296412"/>
            <a:ext cx="82296" cy="82296"/>
          </a:xfrm>
          <a:prstGeom prst="ellipse">
            <a:avLst/>
          </a:prstGeom>
          <a:solidFill>
            <a:srgbClr val="00FFC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520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Digital World Meets the Real World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look at how cameras, sensors, and computer vision let digital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live inside the physical space around us.</a:t>
            </a:r>
            <a:endParaRPr lang="en-US" sz="1300" dirty="0"/>
          </a:p>
        </p:txBody>
      </p:sp>
      <p:pic>
        <p:nvPicPr>
          <p:cNvPr id="11" name="Image 1" descr="/home/claude/ar_deck/assets/hero_vis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502920"/>
            <a:ext cx="4663440" cy="46634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_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HOOK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YOU’VE ALREADY USED AR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Snapchat dog filter. The Instagram face swap. The IKEA app that drops a sofa into your living room before you buy it.
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of it is Augmented Reality —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content layered directly on top of the real world, in real time.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566928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FFC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pic>
        <p:nvPicPr>
          <p:cNvPr id="7" name="Image 1" descr="/home/claude/ar_deck/assets/icon_ar_00FFC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634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4617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 =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World  +  Digital Layer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5074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VR, it never replaces reality — it enhances it.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903720" y="914400"/>
            <a:ext cx="4663440" cy="5120640"/>
          </a:xfrm>
          <a:prstGeom prst="roundRect">
            <a:avLst>
              <a:gd name="adj" fmla="val 352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7B61FF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001000" y="1371600"/>
            <a:ext cx="2468880" cy="4206240"/>
          </a:xfrm>
          <a:prstGeom prst="roundRect">
            <a:avLst>
              <a:gd name="adj" fmla="val 10370"/>
            </a:avLst>
          </a:prstGeom>
          <a:solidFill>
            <a:srgbClr val="111827">
              <a:alpha val="90000"/>
            </a:srgbClr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183880" y="265176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00D9FF">
              <a:alpha val="12000"/>
            </a:srgbClr>
          </a:solidFill>
          <a:ln w="12700">
            <a:solidFill>
              <a:srgbClr val="00FFC6"/>
            </a:solidFill>
            <a:prstDash val="dash"/>
          </a:ln>
        </p:spPr>
      </p:sp>
      <p:pic>
        <p:nvPicPr>
          <p:cNvPr id="13" name="Image 2" descr="/home/claude/ar_deck/assets/icon_ar_00D9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0632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FF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detected</a:t>
            </a:r>
            <a:endParaRPr lang="en-US" sz="900" dirty="0"/>
          </a:p>
        </p:txBody>
      </p:sp>
      <p:pic>
        <p:nvPicPr>
          <p:cNvPr id="15" name="Image 3" descr="/home/claude/ar_deck/assets/icon_camera_7B61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50749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AR WORKS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steps turn a raw camera feed into a believable digital overlay.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874520" cy="3383280"/>
          </a:xfrm>
          <a:prstGeom prst="roundRect">
            <a:avLst>
              <a:gd name="adj" fmla="val 68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D9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76172" y="2377440"/>
            <a:ext cx="402336" cy="402336"/>
          </a:xfrm>
          <a:prstGeom prst="ellipse">
            <a:avLst/>
          </a:prstGeom>
          <a:solidFill>
            <a:srgbClr val="00D9FF">
              <a:alpha val="22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617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1" descr="/home/claude/ar_deck/assets/icon_camera_00D9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301752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Camera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the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scene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42032" y="3730752"/>
            <a:ext cx="265176" cy="219456"/>
          </a:xfrm>
          <a:prstGeom prst="rightArrow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2834640" y="2148840"/>
            <a:ext cx="1874520" cy="3383280"/>
          </a:xfrm>
          <a:prstGeom prst="roundRect">
            <a:avLst>
              <a:gd name="adj" fmla="val 68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7B61FF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70732" y="2377440"/>
            <a:ext cx="402336" cy="402336"/>
          </a:xfrm>
          <a:prstGeom prst="ellipse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7073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2" descr="/home/claude/ar_deck/assets/icon_sensors_7B61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140" y="301752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92608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2926080" y="4572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motion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depth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36592" y="3730752"/>
            <a:ext cx="265176" cy="219456"/>
          </a:xfrm>
          <a:prstGeom prst="rightArrow">
            <a:avLst/>
          </a:prstGeom>
          <a:solidFill>
            <a:srgbClr val="7B61FF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0" y="2148840"/>
            <a:ext cx="1874520" cy="3383280"/>
          </a:xfrm>
          <a:prstGeom prst="roundRect">
            <a:avLst>
              <a:gd name="adj" fmla="val 68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FFC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5292" y="2377440"/>
            <a:ext cx="402336" cy="402336"/>
          </a:xfrm>
          <a:prstGeom prst="ellipse">
            <a:avLst/>
          </a:prstGeom>
          <a:solidFill>
            <a:srgbClr val="00FFC6">
              <a:alpha val="22000"/>
            </a:srgbClr>
          </a:solidFill>
          <a:ln w="12700">
            <a:solidFill>
              <a:srgbClr val="00FFC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529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3" descr="/home/claude/ar_deck/assets/icon_vision_00FFC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301752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12064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5120640" y="4572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data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31152" y="3730752"/>
            <a:ext cx="265176" cy="219456"/>
          </a:xfrm>
          <a:prstGeom prst="rightArrow">
            <a:avLst/>
          </a:prstGeom>
          <a:solidFill>
            <a:srgbClr val="00FFC6">
              <a:alpha val="75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7223760" y="2148840"/>
            <a:ext cx="1874520" cy="3383280"/>
          </a:xfrm>
          <a:prstGeom prst="roundRect">
            <a:avLst>
              <a:gd name="adj" fmla="val 68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D9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959852" y="2377440"/>
            <a:ext cx="402336" cy="402336"/>
          </a:xfrm>
          <a:prstGeom prst="ellipse">
            <a:avLst/>
          </a:prstGeom>
          <a:solidFill>
            <a:srgbClr val="00D9FF">
              <a:alpha val="22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95985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pic>
        <p:nvPicPr>
          <p:cNvPr id="30" name="Image 4" descr="/home/claude/ar_deck/assets/icon_envdetect_00D9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3017520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1520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7315200" y="4572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surfaces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space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9125712" y="3730752"/>
            <a:ext cx="265176" cy="219456"/>
          </a:xfrm>
          <a:prstGeom prst="rightArrow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9418320" y="2148840"/>
            <a:ext cx="1874520" cy="3383280"/>
          </a:xfrm>
          <a:prstGeom prst="roundRect">
            <a:avLst>
              <a:gd name="adj" fmla="val 68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7B61FF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154412" y="2377440"/>
            <a:ext cx="402336" cy="402336"/>
          </a:xfrm>
          <a:prstGeom prst="ellipse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15441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pic>
        <p:nvPicPr>
          <p:cNvPr id="37" name="Image 5" descr="/home/claude/ar_deck/assets/icon_render_7B61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9820" y="3017520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50976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Rendering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9509760" y="4572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Draws the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overlay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_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SHOWS UP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 IN THE REAL WORLD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2084832" cy="2880360"/>
          </a:xfrm>
          <a:prstGeom prst="roundRect">
            <a:avLst>
              <a:gd name="adj" fmla="val 61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D9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79576" y="2560320"/>
            <a:ext cx="1005840" cy="100584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>
                <a:alpha val="70000"/>
              </a:srgbClr>
            </a:solidFill>
            <a:prstDash val="solid"/>
          </a:ln>
        </p:spPr>
      </p:sp>
      <p:pic>
        <p:nvPicPr>
          <p:cNvPr id="7" name="Image 1" descr="/home/claude/ar_deck/assets/icon_gaming_00D9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74320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749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Gaming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2062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Pokémon GO,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play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926080" y="2194560"/>
            <a:ext cx="2084832" cy="2880360"/>
          </a:xfrm>
          <a:prstGeom prst="roundRect">
            <a:avLst>
              <a:gd name="adj" fmla="val 61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7B61FF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65576" y="2560320"/>
            <a:ext cx="1005840" cy="1005840"/>
          </a:xfrm>
          <a:prstGeom prst="ellipse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>
                <a:alpha val="70000"/>
              </a:srgbClr>
            </a:solidFill>
            <a:prstDash val="solid"/>
          </a:ln>
        </p:spPr>
      </p:sp>
      <p:pic>
        <p:nvPicPr>
          <p:cNvPr id="12" name="Image 2" descr="/home/claude/ar_deck/assets/icon_shopping_7B61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7432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17520" y="3749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Shopping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063240" y="42062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try-on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previews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212080" y="2194560"/>
            <a:ext cx="2084832" cy="2880360"/>
          </a:xfrm>
          <a:prstGeom prst="roundRect">
            <a:avLst>
              <a:gd name="adj" fmla="val 61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5C7A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FF5C7A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751576" y="2560320"/>
            <a:ext cx="1005840" cy="1005840"/>
          </a:xfrm>
          <a:prstGeom prst="ellipse">
            <a:avLst/>
          </a:prstGeom>
          <a:solidFill>
            <a:srgbClr val="FF5C7A">
              <a:alpha val="18000"/>
            </a:srgbClr>
          </a:solidFill>
          <a:ln w="12700">
            <a:solidFill>
              <a:srgbClr val="FF5C7A">
                <a:alpha val="70000"/>
              </a:srgbClr>
            </a:solidFill>
            <a:prstDash val="solid"/>
          </a:ln>
        </p:spPr>
      </p:sp>
      <p:pic>
        <p:nvPicPr>
          <p:cNvPr id="17" name="Image 3" descr="/home/claude/ar_deck/assets/icon_healthcare_FF5C7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7432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3749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349240" y="42062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Surgical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overlays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498080" y="2194560"/>
            <a:ext cx="2084832" cy="2880360"/>
          </a:xfrm>
          <a:prstGeom prst="roundRect">
            <a:avLst>
              <a:gd name="adj" fmla="val 61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FFC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37576" y="2560320"/>
            <a:ext cx="1005840" cy="1005840"/>
          </a:xfrm>
          <a:prstGeom prst="ellipse">
            <a:avLst/>
          </a:prstGeom>
          <a:solidFill>
            <a:srgbClr val="00FFC6">
              <a:alpha val="18000"/>
            </a:srgbClr>
          </a:solidFill>
          <a:ln w="12700">
            <a:solidFill>
              <a:srgbClr val="00FFC6">
                <a:alpha val="70000"/>
              </a:srgbClr>
            </a:solidFill>
            <a:prstDash val="solid"/>
          </a:ln>
        </p:spPr>
      </p:sp>
      <p:pic>
        <p:nvPicPr>
          <p:cNvPr id="22" name="Image 4" descr="/home/claude/ar_deck/assets/icon_automotive_00FFC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274320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89520" y="3749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Automotive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635240" y="42062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Heads-up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784080" y="2194560"/>
            <a:ext cx="2084832" cy="2880360"/>
          </a:xfrm>
          <a:prstGeom prst="roundRect">
            <a:avLst>
              <a:gd name="adj" fmla="val 61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D9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0323576" y="2560320"/>
            <a:ext cx="1005840" cy="100584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>
                <a:alpha val="70000"/>
              </a:srgbClr>
            </a:solidFill>
            <a:prstDash val="solid"/>
          </a:ln>
        </p:spPr>
      </p:sp>
      <p:pic>
        <p:nvPicPr>
          <p:cNvPr id="27" name="Image 5" descr="/home/claude/ar_deck/assets/icon_industry_00D9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56" y="2743200"/>
            <a:ext cx="640080" cy="6400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875520" y="3749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Industry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9921240" y="42062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repair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guidance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THE DIFFERENCE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 vs VR vs MR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D9FF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57400" y="2148840"/>
            <a:ext cx="914400" cy="914400"/>
          </a:xfrm>
          <a:prstGeom prst="ellipse">
            <a:avLst/>
          </a:prstGeom>
          <a:solidFill>
            <a:srgbClr val="00D9FF">
              <a:alpha val="20000"/>
            </a:srgbClr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7" name="Image 1" descr="/home/claude/ar_deck/assets/icon_ar_00D9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313432"/>
            <a:ext cx="585216" cy="585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Augmented Reality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42062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digital layers</a:t>
            </a:r>
            <a:endParaRPr lang="en-US" sz="12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world stays visible</a:t>
            </a:r>
            <a:endParaRPr lang="en-US" sz="12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Phones, AR glasses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17720" y="178308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7B61FF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2160" y="2148840"/>
            <a:ext cx="914400" cy="91440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3" name="Image 2" descr="/home/claude/ar_deck/assets/icon_vr_7B61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231343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VR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Reality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983480" y="42062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digital world</a:t>
            </a:r>
            <a:endParaRPr lang="en-US" sz="12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world is blocked out</a:t>
            </a:r>
            <a:endParaRPr lang="en-US" sz="12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Headsets, controllers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12480" y="178308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0FFC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646920" y="2148840"/>
            <a:ext cx="914400" cy="914400"/>
          </a:xfrm>
          <a:prstGeom prst="ellipse">
            <a:avLst/>
          </a:prstGeom>
          <a:solidFill>
            <a:srgbClr val="00FFC6">
              <a:alpha val="20000"/>
            </a:srgbClr>
          </a:solidFill>
          <a:ln w="12700">
            <a:solidFill>
              <a:srgbClr val="00FFC6"/>
            </a:solidFill>
            <a:prstDash val="solid"/>
          </a:ln>
        </p:spPr>
      </p:sp>
      <p:pic>
        <p:nvPicPr>
          <p:cNvPr id="19" name="Image 3" descr="/home/claude/ar_deck/assets/icon_mr_00FFC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512" y="2313432"/>
            <a:ext cx="585216" cy="5852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1248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84124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FF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Reality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8778240" y="42062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objects interact</a:t>
            </a:r>
            <a:endParaRPr lang="en-US" sz="12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real surroundings</a:t>
            </a:r>
            <a:endParaRPr lang="en-US" sz="12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HoloLens-style devices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_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TRADE-OFFS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ADVANTAGES &amp; CHALLENGES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0FFC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pic>
        <p:nvPicPr>
          <p:cNvPr id="6" name="Image 1" descr="/home/claude/ar_deck/assets/icon_advantage_00FFC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1051560" y="2679192"/>
            <a:ext cx="91440" cy="91440"/>
          </a:xfrm>
          <a:prstGeom prst="ellipse">
            <a:avLst/>
          </a:prstGeom>
          <a:solidFill>
            <a:srgbClr val="00FFC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280160" y="2532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Immersive engagement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Blends content naturally into real settings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051560" y="3538728"/>
            <a:ext cx="91440" cy="91440"/>
          </a:xfrm>
          <a:prstGeom prst="ellipse">
            <a:avLst/>
          </a:prstGeom>
          <a:solidFill>
            <a:srgbClr val="00FFC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280160" y="33924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learning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703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instructions into visual, guided steps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51560" y="4398264"/>
            <a:ext cx="91440" cy="91440"/>
          </a:xfrm>
          <a:prstGeom prst="ellipse">
            <a:avLst/>
          </a:prstGeom>
          <a:solidFill>
            <a:srgbClr val="00FFC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280160" y="4251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decisions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80160" y="4562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Try-before-you-buy and live data overlays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051560" y="5257800"/>
            <a:ext cx="91440" cy="91440"/>
          </a:xfrm>
          <a:prstGeom prst="ellipse">
            <a:avLst/>
          </a:prstGeom>
          <a:solidFill>
            <a:srgbClr val="00FFC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280160" y="51114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isolation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80160" y="5422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stay aware of their real surroundings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63640" y="164592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5C7A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FF5C7A">
                <a:alpha val="35000"/>
              </a:srgbClr>
            </a:outerShdw>
          </a:effectLst>
        </p:spPr>
      </p:sp>
      <p:pic>
        <p:nvPicPr>
          <p:cNvPr id="21" name="Image 2" descr="/home/claude/ar_deck/assets/icon_challenge_FF5C7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3232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C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6675120" y="2679192"/>
            <a:ext cx="91440" cy="91440"/>
          </a:xfrm>
          <a:prstGeom prst="ellipse">
            <a:avLst/>
          </a:prstGeom>
          <a:solidFill>
            <a:srgbClr val="FF5C7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903720" y="2532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limits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903720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life and field-of-view still fall short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675120" y="3538728"/>
            <a:ext cx="91440" cy="91440"/>
          </a:xfrm>
          <a:prstGeom prst="ellipse">
            <a:avLst/>
          </a:prstGeom>
          <a:solidFill>
            <a:srgbClr val="FF5C7A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903720" y="33924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concerns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903720" y="3703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Always-on cameras raise real questions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675120" y="4398264"/>
            <a:ext cx="91440" cy="91440"/>
          </a:xfrm>
          <a:prstGeom prst="ellipse">
            <a:avLst/>
          </a:prstGeom>
          <a:solidFill>
            <a:srgbClr val="FF5C7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903720" y="4251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dev cost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903720" y="4562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precise tracking is expensive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675120" y="5257800"/>
            <a:ext cx="91440" cy="91440"/>
          </a:xfrm>
          <a:prstGeom prst="ellipse">
            <a:avLst/>
          </a:prstGeom>
          <a:solidFill>
            <a:srgbClr val="FF5C7A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903720" y="51114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gaps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903720" y="5422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Lighting and clutter can break tracking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FUTURE OF 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 is moving off the phone screen and into everyday life.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D9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00D9FF">
              <a:alpha val="20000"/>
            </a:srgbClr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8" name="Image 1" descr="/home/claude/ar_deck/assets/icon_ar_00D9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441448"/>
            <a:ext cx="512064" cy="512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 Glasses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011680" y="26243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Lightweight, always-on displays replace the phone screen for quick glances.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72200" y="1965960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7B61FF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2286000"/>
            <a:ext cx="822960" cy="82296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3" name="Image 2" descr="/home/claude/ar_deck/assets/icon_education_7B61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44144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4380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543800" y="26243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models turn abstract lessons into things students can walk around.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FFC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FFC6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0120" y="4526280"/>
            <a:ext cx="822960" cy="822960"/>
          </a:xfrm>
          <a:prstGeom prst="ellipse">
            <a:avLst/>
          </a:prstGeom>
          <a:solidFill>
            <a:srgbClr val="00FFC6">
              <a:alpha val="20000"/>
            </a:srgbClr>
          </a:solidFill>
          <a:ln w="12700">
            <a:solidFill>
              <a:srgbClr val="00FFC6"/>
            </a:solidFill>
            <a:prstDash val="solid"/>
          </a:ln>
        </p:spPr>
      </p:sp>
      <p:pic>
        <p:nvPicPr>
          <p:cNvPr id="18" name="Image 3" descr="/home/claude/ar_deck/assets/icon_navigation_00FFC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681728"/>
            <a:ext cx="512064" cy="5120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011680" y="4462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2011680" y="48646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Directions painted onto the street itself instead of a flat map.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4206240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5C7A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FF5C7A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4526280"/>
            <a:ext cx="822960" cy="822960"/>
          </a:xfrm>
          <a:prstGeom prst="ellipse">
            <a:avLst/>
          </a:prstGeom>
          <a:solidFill>
            <a:srgbClr val="FF5C7A">
              <a:alpha val="20000"/>
            </a:srgbClr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23" name="Image 4" descr="/home/claude/ar_deck/assets/icon_everyday_FF5C7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681728"/>
            <a:ext cx="512064" cy="5120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543800" y="4462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Everyday Life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543800" y="48646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Recipes, repairs, and reminders appear exactly where you need them.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r_deck/assets/hero_vis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08" y="-1005840"/>
            <a:ext cx="384048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280160" y="2468880"/>
            <a:ext cx="9628632" cy="2834640"/>
          </a:xfrm>
          <a:prstGeom prst="roundRect">
            <a:avLst>
              <a:gd name="adj" fmla="val 5161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00D9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16200000">
              <a:srgbClr val="00D9FF">
                <a:alpha val="35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871820" y="274777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Shape 2"/>
          <p:cNvSpPr/>
          <p:nvPr/>
        </p:nvSpPr>
        <p:spPr>
          <a:xfrm>
            <a:off x="6054700" y="2747772"/>
            <a:ext cx="82296" cy="82296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7" name="Shape 3"/>
          <p:cNvSpPr/>
          <p:nvPr/>
        </p:nvSpPr>
        <p:spPr>
          <a:xfrm>
            <a:off x="6237580" y="2747772"/>
            <a:ext cx="82296" cy="82296"/>
          </a:xfrm>
          <a:prstGeom prst="ellipse">
            <a:avLst/>
          </a:prstGeom>
          <a:solidFill>
            <a:srgbClr val="00FFC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554480" y="2971800"/>
            <a:ext cx="907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WORLD, REIMAGINED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Augmented Reality doesn’t pull us into a new world — it makes the one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already live in more interactive, informative, and alive.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4572000"/>
            <a:ext cx="907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FF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 —  QUESTIONS?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2026-09-01T09:54:42Z</dcterms:created>
  <dcterms:modified xsi:type="dcterms:W3CDTF">2026-09-01T09:54:42Z</dcterms:modified>
</cp:coreProperties>
</file>