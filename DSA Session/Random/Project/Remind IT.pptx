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grandir Tight Bold" charset="1" panose="00000808000000000000"/>
      <p:regular r:id="rId13"/>
    </p:embeddedFont>
    <p:embeddedFont>
      <p:font typeface="DM Sans Bold" charset="1" panose="00000000000000000000"/>
      <p:regular r:id="rId14"/>
    </p:embeddedFont>
    <p:embeddedFont>
      <p:font typeface="DM Sans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6656" y="1638490"/>
            <a:ext cx="9619488" cy="2971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0"/>
              </a:lnSpc>
            </a:pPr>
            <a:r>
              <a:rPr lang="en-US" sz="18360" spc="-550" b="true">
                <a:solidFill>
                  <a:srgbClr val="FFFFFF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Remind IT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4495800"/>
            <a:ext cx="2190750" cy="438150"/>
          </a:xfrm>
          <a:custGeom>
            <a:avLst/>
            <a:gdLst/>
            <a:ahLst/>
            <a:cxnLst/>
            <a:rect r="r" b="b" t="t" l="l"/>
            <a:pathLst>
              <a:path h="438150" w="2190750">
                <a:moveTo>
                  <a:pt x="0" y="0"/>
                </a:moveTo>
                <a:lnTo>
                  <a:pt x="2190750" y="0"/>
                </a:lnTo>
                <a:lnTo>
                  <a:pt x="2190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04672" y="5315712"/>
            <a:ext cx="7223760" cy="224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3"/>
              </a:lnSpc>
            </a:pPr>
            <a:r>
              <a:rPr lang="en-US" sz="371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One modular reminder app</a:t>
            </a:r>
          </a:p>
          <a:p>
            <a:pPr algn="l">
              <a:lnSpc>
                <a:spcPts val="4463"/>
              </a:lnSpc>
            </a:pPr>
            <a:r>
              <a:rPr lang="en-US" sz="371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for every kind of </a:t>
            </a:r>
            <a:r>
              <a:rPr lang="en-US" sz="3719" b="true">
                <a:solidFill>
                  <a:srgbClr val="FF6B00"/>
                </a:solidFill>
                <a:latin typeface="DM Sans Bold"/>
                <a:ea typeface="DM Sans Bold"/>
                <a:cs typeface="DM Sans Bold"/>
                <a:sym typeface="DM Sans Bold"/>
              </a:rPr>
              <a:t>'don't forget'</a:t>
            </a:r>
            <a:r>
              <a:rPr lang="en-US" sz="371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—</a:t>
            </a:r>
          </a:p>
          <a:p>
            <a:pPr algn="l">
              <a:lnSpc>
                <a:spcPts val="4463"/>
              </a:lnSpc>
            </a:pPr>
            <a:r>
              <a:rPr lang="en-US" sz="371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for students, professionals,</a:t>
            </a:r>
          </a:p>
          <a:p>
            <a:pPr algn="l">
              <a:lnSpc>
                <a:spcPts val="4463"/>
              </a:lnSpc>
            </a:pPr>
            <a:r>
              <a:rPr lang="en-US" sz="371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and vehicle owners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4672" y="8802243"/>
            <a:ext cx="396849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2868" b="true">
                <a:solidFill>
                  <a:srgbClr val="FF6B00"/>
                </a:solidFill>
                <a:latin typeface="DM Sans Bold"/>
                <a:ea typeface="DM Sans Bold"/>
                <a:cs typeface="DM Sans Bold"/>
                <a:sym typeface="DM Sans Bold"/>
              </a:rPr>
              <a:t>Pujithran Muralitharan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86775" y="428625"/>
            <a:ext cx="9801225" cy="9858375"/>
          </a:xfrm>
          <a:custGeom>
            <a:avLst/>
            <a:gdLst/>
            <a:ahLst/>
            <a:cxnLst/>
            <a:rect r="r" b="b" t="t" l="l"/>
            <a:pathLst>
              <a:path h="9858375" w="9801225">
                <a:moveTo>
                  <a:pt x="0" y="0"/>
                </a:moveTo>
                <a:lnTo>
                  <a:pt x="9801225" y="0"/>
                </a:lnTo>
                <a:lnTo>
                  <a:pt x="9801225" y="9858375"/>
                </a:lnTo>
                <a:lnTo>
                  <a:pt x="0" y="9858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7700" y="3000375"/>
            <a:ext cx="1971675" cy="219075"/>
          </a:xfrm>
          <a:custGeom>
            <a:avLst/>
            <a:gdLst/>
            <a:ahLst/>
            <a:cxnLst/>
            <a:rect r="r" b="b" t="t" l="l"/>
            <a:pathLst>
              <a:path h="219075" w="1971675">
                <a:moveTo>
                  <a:pt x="0" y="0"/>
                </a:moveTo>
                <a:lnTo>
                  <a:pt x="1971675" y="0"/>
                </a:lnTo>
                <a:lnTo>
                  <a:pt x="197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9808" y="3530535"/>
            <a:ext cx="6583680" cy="79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254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People juggle 4–5 separate apps to manage bills, habits, vehicle service, and events.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9808" y="4532295"/>
            <a:ext cx="7278624" cy="390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47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Ordinary reminder apps only do basic time alerts.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9808" y="5125020"/>
            <a:ext cx="6949440" cy="79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254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Students, professionals, and vehicle owners — almost everyone with recurring reminders.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9808" y="6128574"/>
            <a:ext cx="6986016" cy="1199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254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Interviewees missed bill due dates and vehicle service intervals in the same month, using different apps they rarely open.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7700" y="7496175"/>
            <a:ext cx="228600" cy="2362200"/>
          </a:xfrm>
          <a:custGeom>
            <a:avLst/>
            <a:gdLst/>
            <a:ahLst/>
            <a:cxnLst/>
            <a:rect r="r" b="b" t="t" l="l"/>
            <a:pathLst>
              <a:path h="2362200" w="228600">
                <a:moveTo>
                  <a:pt x="0" y="0"/>
                </a:moveTo>
                <a:lnTo>
                  <a:pt x="228600" y="0"/>
                </a:lnTo>
                <a:lnTo>
                  <a:pt x="2286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6775" y="74961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4128" y="8142899"/>
            <a:ext cx="9400032" cy="1651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4003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"I have a bills app, a habit app, and sticky notes for my bike's service date — </a:t>
            </a:r>
            <a:r>
              <a:rPr lang="en-US" sz="4003" b="true">
                <a:solidFill>
                  <a:srgbClr val="F47A2B"/>
                </a:solidFill>
                <a:latin typeface="DM Sans Bold"/>
                <a:ea typeface="DM Sans Bold"/>
                <a:cs typeface="DM Sans Bold"/>
                <a:sym typeface="DM Sans Bold"/>
              </a:rPr>
              <a:t>and I still forget things.”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3232" y="812684"/>
            <a:ext cx="7589520" cy="2234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6"/>
              </a:lnSpc>
            </a:pPr>
            <a:r>
              <a:rPr lang="en-US" sz="8221" b="true">
                <a:solidFill>
                  <a:srgbClr val="FFFFFF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THE PROBLEM </a:t>
            </a:r>
            <a:r>
              <a:rPr lang="en-US" sz="8221" b="true">
                <a:solidFill>
                  <a:srgbClr val="F47A2B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WE DISCOVERED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48925" y="1285875"/>
            <a:ext cx="7191375" cy="6648450"/>
          </a:xfrm>
          <a:custGeom>
            <a:avLst/>
            <a:gdLst/>
            <a:ahLst/>
            <a:cxnLst/>
            <a:rect r="r" b="b" t="t" l="l"/>
            <a:pathLst>
              <a:path h="6648450" w="7191375">
                <a:moveTo>
                  <a:pt x="0" y="0"/>
                </a:moveTo>
                <a:lnTo>
                  <a:pt x="7191375" y="0"/>
                </a:lnTo>
                <a:lnTo>
                  <a:pt x="7191375" y="6648450"/>
                </a:lnTo>
                <a:lnTo>
                  <a:pt x="0" y="6648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15700" y="2352675"/>
            <a:ext cx="6762750" cy="7934325"/>
          </a:xfrm>
          <a:custGeom>
            <a:avLst/>
            <a:gdLst/>
            <a:ahLst/>
            <a:cxnLst/>
            <a:rect r="r" b="b" t="t" l="l"/>
            <a:pathLst>
              <a:path h="7934325" w="6762750">
                <a:moveTo>
                  <a:pt x="0" y="0"/>
                </a:moveTo>
                <a:lnTo>
                  <a:pt x="6762750" y="0"/>
                </a:lnTo>
                <a:lnTo>
                  <a:pt x="6762750" y="7934325"/>
                </a:lnTo>
                <a:lnTo>
                  <a:pt x="0" y="7934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3504" y="673508"/>
            <a:ext cx="1133856" cy="36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7"/>
              </a:lnSpc>
            </a:pPr>
            <a:r>
              <a:rPr lang="en-US" sz="2797" b="true">
                <a:solidFill>
                  <a:srgbClr val="FF914D"/>
                </a:solidFill>
                <a:latin typeface="DM Sans Bold"/>
                <a:ea typeface="DM Sans Bold"/>
                <a:cs typeface="DM Sans Bold"/>
                <a:sym typeface="DM Sans Bold"/>
              </a:rPr>
              <a:t>STEP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3504" y="957431"/>
            <a:ext cx="9564624" cy="1208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1"/>
              </a:lnSpc>
            </a:pPr>
            <a:r>
              <a:rPr lang="en-US" sz="7441" b="true">
                <a:solidFill>
                  <a:srgbClr val="FFFFFF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MEET OUR CUSTOMER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8625" y="2352675"/>
            <a:ext cx="1971675" cy="219075"/>
          </a:xfrm>
          <a:custGeom>
            <a:avLst/>
            <a:gdLst/>
            <a:ahLst/>
            <a:cxnLst/>
            <a:rect r="r" b="b" t="t" l="l"/>
            <a:pathLst>
              <a:path h="219075" w="1971675">
                <a:moveTo>
                  <a:pt x="0" y="0"/>
                </a:moveTo>
                <a:lnTo>
                  <a:pt x="1971675" y="0"/>
                </a:lnTo>
                <a:lnTo>
                  <a:pt x="197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03504" y="3651367"/>
            <a:ext cx="4590288" cy="1120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0"/>
              </a:lnSpc>
            </a:pPr>
            <a:r>
              <a:rPr lang="en-US" sz="2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Juggling work deadlines, bills, gym habits, and bike service across four different apps.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8625" y="4924425"/>
            <a:ext cx="8934450" cy="2362200"/>
          </a:xfrm>
          <a:custGeom>
            <a:avLst/>
            <a:gdLst/>
            <a:ahLst/>
            <a:cxnLst/>
            <a:rect r="r" b="b" t="t" l="l"/>
            <a:pathLst>
              <a:path h="2362200" w="8934450">
                <a:moveTo>
                  <a:pt x="0" y="0"/>
                </a:moveTo>
                <a:lnTo>
                  <a:pt x="8934450" y="0"/>
                </a:lnTo>
                <a:lnTo>
                  <a:pt x="8934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6775" y="535305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10512" y="5431536"/>
            <a:ext cx="596188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3"/>
              </a:lnSpc>
            </a:pPr>
            <a:r>
              <a:rPr lang="en-US" sz="343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 just want one place that remembers everything for me, </a:t>
            </a:r>
            <a:r>
              <a:rPr lang="en-US" sz="3435" b="true">
                <a:solidFill>
                  <a:srgbClr val="FF914D"/>
                </a:solidFill>
                <a:latin typeface="DM Sans Bold"/>
                <a:ea typeface="DM Sans Bold"/>
                <a:cs typeface="DM Sans Bold"/>
                <a:sym typeface="DM Sans Bold"/>
              </a:rPr>
              <a:t>not five.</a:t>
            </a:r>
            <a:r>
              <a:rPr lang="en-US" sz="343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1792" y="7597714"/>
            <a:ext cx="2194560" cy="283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2159" b="true">
                <a:solidFill>
                  <a:srgbClr val="FF914D"/>
                </a:solidFill>
                <a:latin typeface="DM Sans Bold"/>
                <a:ea typeface="DM Sans Bold"/>
                <a:cs typeface="DM Sans Bold"/>
                <a:sym typeface="DM Sans Bold"/>
              </a:rPr>
              <a:t>WHAT COST HIM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1792" y="8055190"/>
            <a:ext cx="3621024" cy="94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226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Paid a fine for missing bike license renewal and bike service in the same month.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000625" y="7496175"/>
            <a:ext cx="228600" cy="2362200"/>
          </a:xfrm>
          <a:custGeom>
            <a:avLst/>
            <a:gdLst/>
            <a:ahLst/>
            <a:cxnLst/>
            <a:rect r="r" b="b" t="t" l="l"/>
            <a:pathLst>
              <a:path h="2362200" w="228600">
                <a:moveTo>
                  <a:pt x="0" y="0"/>
                </a:moveTo>
                <a:lnTo>
                  <a:pt x="228600" y="0"/>
                </a:lnTo>
                <a:lnTo>
                  <a:pt x="2286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705856" y="7603377"/>
            <a:ext cx="1792224" cy="272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2088" b="true">
                <a:solidFill>
                  <a:srgbClr val="FF914D"/>
                </a:solidFill>
                <a:latin typeface="DM Sans Bold"/>
                <a:ea typeface="DM Sans Bold"/>
                <a:cs typeface="DM Sans Bold"/>
                <a:sym typeface="DM Sans Bold"/>
              </a:rPr>
              <a:t>OUR PROMISE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05856" y="8001452"/>
            <a:ext cx="3547872" cy="1041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6"/>
              </a:lnSpc>
            </a:pPr>
            <a:r>
              <a:rPr lang="en-US" sz="2478" b="true">
                <a:solidFill>
                  <a:srgbClr val="FF914D"/>
                </a:solidFill>
                <a:latin typeface="DM Sans Bold"/>
                <a:ea typeface="DM Sans Bold"/>
                <a:cs typeface="DM Sans Bold"/>
                <a:sym typeface="DM Sans Bold"/>
              </a:rPr>
              <a:t>One platform</a:t>
            </a:r>
            <a:r>
              <a:rPr lang="en-US" sz="247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with modular plugins for bills, habits, and vehicle care.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05856" y="9297631"/>
            <a:ext cx="2852928" cy="628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226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More than reminders. Built for </a:t>
            </a:r>
            <a:r>
              <a:rPr lang="en-US" sz="2266" b="true">
                <a:solidFill>
                  <a:srgbClr val="FF914D"/>
                </a:solidFill>
                <a:latin typeface="DM Sans Bold"/>
                <a:ea typeface="DM Sans Bold"/>
                <a:cs typeface="DM Sans Bold"/>
                <a:sym typeface="DM Sans Bold"/>
              </a:rPr>
              <a:t>real life</a:t>
            </a:r>
            <a:r>
              <a:rPr lang="en-US" sz="226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3496925" y="638175"/>
            <a:ext cx="1095375" cy="1295400"/>
          </a:xfrm>
          <a:custGeom>
            <a:avLst/>
            <a:gdLst/>
            <a:ahLst/>
            <a:cxnLst/>
            <a:rect r="r" b="b" t="t" l="l"/>
            <a:pathLst>
              <a:path h="1295400" w="1095375">
                <a:moveTo>
                  <a:pt x="0" y="0"/>
                </a:moveTo>
                <a:lnTo>
                  <a:pt x="1095375" y="0"/>
                </a:lnTo>
                <a:lnTo>
                  <a:pt x="1095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807440" y="1946028"/>
            <a:ext cx="475488" cy="29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08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Bills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229850" y="3000375"/>
            <a:ext cx="1314450" cy="1285875"/>
          </a:xfrm>
          <a:custGeom>
            <a:avLst/>
            <a:gdLst/>
            <a:ahLst/>
            <a:cxnLst/>
            <a:rect r="r" b="b" t="t" l="l"/>
            <a:pathLst>
              <a:path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460736" y="4245242"/>
            <a:ext cx="768096" cy="28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9"/>
              </a:lnSpc>
            </a:pPr>
            <a:r>
              <a:rPr lang="en-US" sz="201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Habits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0229850" y="6429375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186416" y="7598804"/>
            <a:ext cx="1481328" cy="28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9"/>
              </a:lnSpc>
            </a:pPr>
            <a:r>
              <a:rPr lang="en-US" sz="201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Vehicle Care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6764000" y="4714875"/>
            <a:ext cx="1095375" cy="1285875"/>
          </a:xfrm>
          <a:custGeom>
            <a:avLst/>
            <a:gdLst/>
            <a:ahLst/>
            <a:cxnLst/>
            <a:rect r="r" b="b" t="t" l="l"/>
            <a:pathLst>
              <a:path h="1285875" w="1095375">
                <a:moveTo>
                  <a:pt x="0" y="0"/>
                </a:moveTo>
                <a:lnTo>
                  <a:pt x="1095375" y="0"/>
                </a:lnTo>
                <a:lnTo>
                  <a:pt x="1095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6952976" y="5936761"/>
            <a:ext cx="768096" cy="262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1"/>
              </a:lnSpc>
            </a:pPr>
            <a:r>
              <a:rPr lang="en-US" sz="194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Events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03504" y="2974578"/>
            <a:ext cx="5102352" cy="555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1"/>
              </a:lnSpc>
            </a:pPr>
            <a:r>
              <a:rPr lang="en-US" sz="4251" b="true">
                <a:solidFill>
                  <a:srgbClr val="FF914D"/>
                </a:solidFill>
                <a:latin typeface="DM Sans Bold"/>
                <a:ea typeface="DM Sans Bold"/>
                <a:cs typeface="DM Sans Bold"/>
                <a:sym typeface="DM Sans Bold"/>
              </a:rPr>
              <a:t>COLLEGE STUDENT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691378" y="2974578"/>
            <a:ext cx="694944" cy="555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1"/>
              </a:lnSpc>
            </a:pPr>
            <a:r>
              <a:rPr lang="en-US" sz="42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1520" y="428244"/>
            <a:ext cx="2450592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28"/>
              </a:lnSpc>
            </a:pPr>
            <a:r>
              <a:rPr lang="en-US" sz="6023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STEP 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1995" y="1009650"/>
            <a:ext cx="10625328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7"/>
              </a:lnSpc>
            </a:pPr>
            <a:r>
              <a:rPr lang="en-US" sz="7548" b="true">
                <a:solidFill>
                  <a:srgbClr val="F47327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OUR BUSINESS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1520" y="1909763"/>
            <a:ext cx="5687568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7"/>
              </a:lnSpc>
            </a:pPr>
            <a:r>
              <a:rPr lang="en-US" sz="7548" b="true">
                <a:solidFill>
                  <a:srgbClr val="FFFFFF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AT A GLANCE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3209925"/>
            <a:ext cx="1971675" cy="219075"/>
          </a:xfrm>
          <a:custGeom>
            <a:avLst/>
            <a:gdLst/>
            <a:ahLst/>
            <a:cxnLst/>
            <a:rect r="r" b="b" t="t" l="l"/>
            <a:pathLst>
              <a:path h="219075" w="1971675">
                <a:moveTo>
                  <a:pt x="0" y="0"/>
                </a:moveTo>
                <a:lnTo>
                  <a:pt x="1971675" y="0"/>
                </a:lnTo>
                <a:lnTo>
                  <a:pt x="197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7700" y="3638550"/>
            <a:ext cx="3276600" cy="1076325"/>
          </a:xfrm>
          <a:custGeom>
            <a:avLst/>
            <a:gdLst/>
            <a:ahLst/>
            <a:cxnLst/>
            <a:rect r="r" b="b" t="t" l="l"/>
            <a:pathLst>
              <a:path h="1076325" w="3276600">
                <a:moveTo>
                  <a:pt x="0" y="0"/>
                </a:moveTo>
                <a:lnTo>
                  <a:pt x="3276600" y="0"/>
                </a:lnTo>
                <a:lnTo>
                  <a:pt x="3276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4128" y="3881438"/>
            <a:ext cx="179222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CUSTOMER SEGMENT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97680" y="3881438"/>
            <a:ext cx="7388352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Students, professionals, vehicle owners tracking bills, habits, events, maintenance.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7700" y="4714875"/>
            <a:ext cx="3276600" cy="1076325"/>
          </a:xfrm>
          <a:custGeom>
            <a:avLst/>
            <a:gdLst/>
            <a:ahLst/>
            <a:cxnLst/>
            <a:rect r="r" b="b" t="t" l="l"/>
            <a:pathLst>
              <a:path h="1076325" w="3276600">
                <a:moveTo>
                  <a:pt x="0" y="0"/>
                </a:moveTo>
                <a:lnTo>
                  <a:pt x="3276600" y="0"/>
                </a:lnTo>
                <a:lnTo>
                  <a:pt x="3276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4128" y="4930712"/>
            <a:ext cx="2139696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VALUE PROPOSITION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97680" y="4930712"/>
            <a:ext cx="8394192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One app, many reminder plugins (bills, habits, location, vehicle service) replacing five apps.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7700" y="5781675"/>
            <a:ext cx="3276600" cy="1076325"/>
          </a:xfrm>
          <a:custGeom>
            <a:avLst/>
            <a:gdLst/>
            <a:ahLst/>
            <a:cxnLst/>
            <a:rect r="r" b="b" t="t" l="l"/>
            <a:pathLst>
              <a:path h="1076325" w="3276600">
                <a:moveTo>
                  <a:pt x="0" y="0"/>
                </a:moveTo>
                <a:lnTo>
                  <a:pt x="3276600" y="0"/>
                </a:lnTo>
                <a:lnTo>
                  <a:pt x="3276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4128" y="6181534"/>
            <a:ext cx="166420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CHANNELS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97680" y="5971985"/>
            <a:ext cx="7205472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Play store listing, social media demos, campus tech events, word of mouth from beta testers.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7700" y="6638925"/>
            <a:ext cx="3276600" cy="1295400"/>
          </a:xfrm>
          <a:custGeom>
            <a:avLst/>
            <a:gdLst/>
            <a:ahLst/>
            <a:cxnLst/>
            <a:rect r="r" b="b" t="t" l="l"/>
            <a:pathLst>
              <a:path h="1295400" w="3276600">
                <a:moveTo>
                  <a:pt x="0" y="0"/>
                </a:moveTo>
                <a:lnTo>
                  <a:pt x="3276600" y="0"/>
                </a:lnTo>
                <a:lnTo>
                  <a:pt x="3276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4128" y="7029260"/>
            <a:ext cx="243230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CUSTOMER RELATIONSHIPS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97680" y="7048310"/>
            <a:ext cx="8119872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4"/>
              </a:lnSpc>
            </a:pPr>
            <a:r>
              <a:rPr lang="en-US" sz="21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Free core app builds daily habits; plugin marketplace &amp; in-app support drive engagement.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47700" y="7715250"/>
            <a:ext cx="3276600" cy="1285875"/>
          </a:xfrm>
          <a:custGeom>
            <a:avLst/>
            <a:gdLst/>
            <a:ahLst/>
            <a:cxnLst/>
            <a:rect r="r" b="b" t="t" l="l"/>
            <a:pathLst>
              <a:path h="1285875" w="3276600">
                <a:moveTo>
                  <a:pt x="0" y="0"/>
                </a:moveTo>
                <a:lnTo>
                  <a:pt x="3276600" y="0"/>
                </a:lnTo>
                <a:lnTo>
                  <a:pt x="3276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4128" y="8088820"/>
            <a:ext cx="151790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REVENUE STREAMS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97680" y="8037386"/>
            <a:ext cx="7626096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Free basic plugin versions (2 active max); Premium Rs. 300/month for full plugins unlimited.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47700" y="8782050"/>
            <a:ext cx="3276600" cy="1295400"/>
          </a:xfrm>
          <a:custGeom>
            <a:avLst/>
            <a:gdLst/>
            <a:ahLst/>
            <a:cxnLst/>
            <a:rect r="r" b="b" t="t" l="l"/>
            <a:pathLst>
              <a:path h="1295400" w="3276600">
                <a:moveTo>
                  <a:pt x="0" y="0"/>
                </a:moveTo>
                <a:lnTo>
                  <a:pt x="3276600" y="0"/>
                </a:lnTo>
                <a:lnTo>
                  <a:pt x="3276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4128" y="9148382"/>
            <a:ext cx="261518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KEY RESOURCES &amp; PARTNERS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97680" y="9117520"/>
            <a:ext cx="8668512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Full-stack skills, cloud tools, AI API (OpenAI/Claude), mentor, pilot users.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33850" y="7067550"/>
            <a:ext cx="10020300" cy="3219450"/>
          </a:xfrm>
          <a:custGeom>
            <a:avLst/>
            <a:gdLst/>
            <a:ahLst/>
            <a:cxnLst/>
            <a:rect r="r" b="b" t="t" l="l"/>
            <a:pathLst>
              <a:path h="3219450" w="10020300">
                <a:moveTo>
                  <a:pt x="0" y="0"/>
                </a:moveTo>
                <a:lnTo>
                  <a:pt x="10020300" y="0"/>
                </a:lnTo>
                <a:lnTo>
                  <a:pt x="100203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32688" y="786010"/>
            <a:ext cx="1609344" cy="552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9"/>
              </a:lnSpc>
            </a:pPr>
            <a:r>
              <a:rPr lang="en-US" b="true" sz="4109" spc="-123">
                <a:solidFill>
                  <a:srgbClr val="E6771C"/>
                </a:solidFill>
                <a:latin typeface="DM Sans Bold"/>
                <a:ea typeface="DM Sans Bold"/>
                <a:cs typeface="DM Sans Bold"/>
                <a:sym typeface="DM Sans Bold"/>
              </a:rPr>
              <a:t>STEP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7824" y="1129354"/>
            <a:ext cx="12326112" cy="161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29"/>
              </a:lnSpc>
            </a:pPr>
            <a:r>
              <a:rPr lang="en-US" sz="10029" spc="-300" b="true">
                <a:solidFill>
                  <a:srgbClr val="FFFFFF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How We’ll Reach &amp; </a:t>
            </a:r>
            <a:r>
              <a:rPr lang="en-US" sz="10029" spc="-300" b="true">
                <a:solidFill>
                  <a:srgbClr val="E6771C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Run It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24000" y="3209925"/>
            <a:ext cx="15678150" cy="866775"/>
          </a:xfrm>
          <a:custGeom>
            <a:avLst/>
            <a:gdLst/>
            <a:ahLst/>
            <a:cxnLst/>
            <a:rect r="r" b="b" t="t" l="l"/>
            <a:pathLst>
              <a:path h="866775" w="15678150">
                <a:moveTo>
                  <a:pt x="0" y="0"/>
                </a:moveTo>
                <a:lnTo>
                  <a:pt x="15678150" y="0"/>
                </a:lnTo>
                <a:lnTo>
                  <a:pt x="156781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7700" y="3857625"/>
            <a:ext cx="5667375" cy="5791200"/>
          </a:xfrm>
          <a:custGeom>
            <a:avLst/>
            <a:gdLst/>
            <a:ahLst/>
            <a:cxnLst/>
            <a:rect r="r" b="b" t="t" l="l"/>
            <a:pathLst>
              <a:path h="5791200" w="5667375">
                <a:moveTo>
                  <a:pt x="0" y="0"/>
                </a:moveTo>
                <a:lnTo>
                  <a:pt x="5667375" y="0"/>
                </a:lnTo>
                <a:lnTo>
                  <a:pt x="5667375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00784" y="4323592"/>
            <a:ext cx="2779776" cy="379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b="true" sz="2939" spc="-8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REACH &amp; GROW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8176" y="5035033"/>
            <a:ext cx="3364992" cy="86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514" spc="-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Social media demos and Play store search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8176" y="6133317"/>
            <a:ext cx="3493008" cy="842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443" spc="-7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Referrals in student and professional communities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8176" y="7182591"/>
            <a:ext cx="4078224" cy="842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443" spc="-7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In-app help with a community feedback channel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8176" y="8213716"/>
            <a:ext cx="3474720" cy="1307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514" spc="-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Referral perk: unlock one premium plugin free for month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305550" y="3857625"/>
            <a:ext cx="5676900" cy="5791200"/>
          </a:xfrm>
          <a:custGeom>
            <a:avLst/>
            <a:gdLst/>
            <a:ahLst/>
            <a:cxnLst/>
            <a:rect r="r" b="b" t="t" l="l"/>
            <a:pathLst>
              <a:path h="5791200" w="5676900">
                <a:moveTo>
                  <a:pt x="0" y="0"/>
                </a:moveTo>
                <a:lnTo>
                  <a:pt x="5676900" y="0"/>
                </a:lnTo>
                <a:lnTo>
                  <a:pt x="5676900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754112" y="4309755"/>
            <a:ext cx="2304288" cy="388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4"/>
              </a:lnSpc>
            </a:pPr>
            <a:r>
              <a:rPr lang="en-US" b="true" sz="2904" spc="-8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WHAT WE DO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77456" y="5051468"/>
            <a:ext cx="3328416" cy="41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443" spc="-7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Reliable reminder engine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972925" y="3857625"/>
            <a:ext cx="5229225" cy="5791200"/>
          </a:xfrm>
          <a:custGeom>
            <a:avLst/>
            <a:gdLst/>
            <a:ahLst/>
            <a:cxnLst/>
            <a:rect r="r" b="b" t="t" l="l"/>
            <a:pathLst>
              <a:path h="5791200" w="5229225">
                <a:moveTo>
                  <a:pt x="0" y="0"/>
                </a:moveTo>
                <a:lnTo>
                  <a:pt x="5229225" y="0"/>
                </a:lnTo>
                <a:lnTo>
                  <a:pt x="5229225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331952" y="4298880"/>
            <a:ext cx="2651760" cy="40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0"/>
              </a:lnSpc>
            </a:pPr>
            <a:r>
              <a:rPr lang="en-US" b="true" sz="3010" spc="-9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WHAT IT TAKES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46736" y="5064681"/>
            <a:ext cx="3456432" cy="86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0"/>
              </a:lnSpc>
            </a:pPr>
            <a:r>
              <a:rPr lang="en-US" sz="2478" spc="-7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Full-stack skills: Node.js, Express, MongoDB, React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46736" y="6250734"/>
            <a:ext cx="3529584" cy="422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0"/>
              </a:lnSpc>
            </a:pPr>
            <a:r>
              <a:rPr lang="en-US" sz="2478" spc="-7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 API key and cloud tools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46736" y="6892841"/>
            <a:ext cx="3054096" cy="41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443" spc="-7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Mentor and pilot users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77456" y="6131603"/>
            <a:ext cx="2633472" cy="41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443" spc="-7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Timely notifications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077456" y="7176564"/>
            <a:ext cx="3931920" cy="422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0"/>
              </a:lnSpc>
            </a:pPr>
            <a:r>
              <a:rPr lang="en-US" sz="2478" spc="-7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Release plugins users ask for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7700" y="3000375"/>
            <a:ext cx="1971675" cy="428625"/>
          </a:xfrm>
          <a:custGeom>
            <a:avLst/>
            <a:gdLst/>
            <a:ahLst/>
            <a:cxnLst/>
            <a:rect r="r" b="b" t="t" l="l"/>
            <a:pathLst>
              <a:path h="428625" w="1971675">
                <a:moveTo>
                  <a:pt x="0" y="0"/>
                </a:moveTo>
                <a:lnTo>
                  <a:pt x="1971675" y="0"/>
                </a:lnTo>
                <a:lnTo>
                  <a:pt x="1971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1520" y="3794602"/>
            <a:ext cx="4005072" cy="40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58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Freemium with real value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1520" y="4292015"/>
            <a:ext cx="6894576" cy="38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4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Free basic plugins, capped at 2 active reminders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5163310"/>
            <a:ext cx="4206240" cy="415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254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Premium delivers freedom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1520" y="5675461"/>
            <a:ext cx="5833872" cy="388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6"/>
              </a:lnSpc>
            </a:pPr>
            <a:r>
              <a:rPr lang="en-US" sz="2443" b="true">
                <a:solidFill>
                  <a:srgbClr val="F58227"/>
                </a:solidFill>
                <a:latin typeface="DM Sans Bold"/>
                <a:ea typeface="DM Sans Bold"/>
                <a:cs typeface="DM Sans Bold"/>
                <a:sym typeface="DM Sans Bold"/>
              </a:rPr>
              <a:t>Rs. 300/month</a:t>
            </a:r>
            <a:r>
              <a:rPr lang="en-US" sz="24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for full plugins, unlimited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1520" y="6578604"/>
            <a:ext cx="3328416" cy="423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62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Strong early traction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1520" y="7095067"/>
            <a:ext cx="6784848" cy="388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6"/>
              </a:lnSpc>
            </a:pPr>
            <a:r>
              <a:rPr lang="en-US" sz="2443" b="true">
                <a:solidFill>
                  <a:srgbClr val="F58227"/>
                </a:solidFill>
                <a:latin typeface="DM Sans Bold"/>
                <a:ea typeface="DM Sans Bold"/>
                <a:cs typeface="DM Sans Bold"/>
                <a:sym typeface="DM Sans Bold"/>
              </a:rPr>
              <a:t>Rs. 30,000/month</a:t>
            </a:r>
            <a:r>
              <a:rPr lang="en-US" sz="24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(100 premium subscribers)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1520" y="7998210"/>
            <a:ext cx="5303520" cy="423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62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Breakeven at 100 premium users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1520" y="8515660"/>
            <a:ext cx="5907024" cy="397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47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Revenue covers fixed and variable costs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353550" y="2571750"/>
            <a:ext cx="2409825" cy="6429375"/>
          </a:xfrm>
          <a:custGeom>
            <a:avLst/>
            <a:gdLst/>
            <a:ahLst/>
            <a:cxnLst/>
            <a:rect r="r" b="b" t="t" l="l"/>
            <a:pathLst>
              <a:path h="6429375" w="2409825">
                <a:moveTo>
                  <a:pt x="0" y="0"/>
                </a:moveTo>
                <a:lnTo>
                  <a:pt x="2409825" y="0"/>
                </a:lnTo>
                <a:lnTo>
                  <a:pt x="2409825" y="6429375"/>
                </a:lnTo>
                <a:lnTo>
                  <a:pt x="0" y="64293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912096" y="8263095"/>
            <a:ext cx="1243584" cy="323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4"/>
              </a:lnSpc>
            </a:pPr>
            <a:r>
              <a:rPr lang="en-US" b="true" sz="2195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REVENUE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82912" y="1602796"/>
            <a:ext cx="1938528" cy="458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9"/>
              </a:lnSpc>
            </a:pPr>
            <a:r>
              <a:rPr lang="en-US" sz="2868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Rs. 30,000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92640" y="2119259"/>
            <a:ext cx="1682496" cy="361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30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PER MONTH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839700" y="3209925"/>
            <a:ext cx="2400300" cy="2581275"/>
          </a:xfrm>
          <a:custGeom>
            <a:avLst/>
            <a:gdLst/>
            <a:ahLst/>
            <a:cxnLst/>
            <a:rect r="r" b="b" t="t" l="l"/>
            <a:pathLst>
              <a:path h="2581275" w="2400300">
                <a:moveTo>
                  <a:pt x="0" y="0"/>
                </a:moveTo>
                <a:lnTo>
                  <a:pt x="2400300" y="0"/>
                </a:lnTo>
                <a:lnTo>
                  <a:pt x="240030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606272" y="4046966"/>
            <a:ext cx="1005840" cy="65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9"/>
              </a:lnSpc>
            </a:pPr>
            <a:r>
              <a:rPr lang="en-US" b="true" sz="2372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FIXED COSTS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33120" y="4809934"/>
            <a:ext cx="117043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sz="180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Rs. 15,000 per month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839700" y="5572125"/>
            <a:ext cx="2400300" cy="3429000"/>
          </a:xfrm>
          <a:custGeom>
            <a:avLst/>
            <a:gdLst/>
            <a:ahLst/>
            <a:cxnLst/>
            <a:rect r="r" b="b" t="t" l="l"/>
            <a:pathLst>
              <a:path h="3429000" w="2400300">
                <a:moveTo>
                  <a:pt x="0" y="0"/>
                </a:moveTo>
                <a:lnTo>
                  <a:pt x="2400300" y="0"/>
                </a:lnTo>
                <a:lnTo>
                  <a:pt x="24003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313664" y="6447164"/>
            <a:ext cx="1627632" cy="698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5"/>
              </a:lnSpc>
            </a:pPr>
            <a:r>
              <a:rPr lang="en-US" b="true" sz="251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VARIABLE COSTS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533120" y="7155370"/>
            <a:ext cx="117043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sz="180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Rs. 20 per active user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77088" y="8289089"/>
            <a:ext cx="1664208" cy="281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2"/>
              </a:lnSpc>
            </a:pPr>
            <a:r>
              <a:rPr lang="en-US" b="true" sz="191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TOTAL COSTS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67360" y="2143469"/>
            <a:ext cx="1847088" cy="46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5"/>
              </a:lnSpc>
            </a:pPr>
            <a:r>
              <a:rPr lang="en-US" sz="2904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Rs. 15,000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77088" y="2685044"/>
            <a:ext cx="1682496" cy="361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30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PER MONTH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1534775" y="3209925"/>
            <a:ext cx="4143375" cy="219075"/>
          </a:xfrm>
          <a:custGeom>
            <a:avLst/>
            <a:gdLst/>
            <a:ahLst/>
            <a:cxnLst/>
            <a:rect r="r" b="b" t="t" l="l"/>
            <a:pathLst>
              <a:path h="219075" w="4143375">
                <a:moveTo>
                  <a:pt x="0" y="0"/>
                </a:moveTo>
                <a:lnTo>
                  <a:pt x="4143375" y="0"/>
                </a:lnTo>
                <a:lnTo>
                  <a:pt x="4143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5928848" y="3236005"/>
            <a:ext cx="1719072" cy="37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337" b="true">
                <a:solidFill>
                  <a:srgbClr val="F58227"/>
                </a:solidFill>
                <a:latin typeface="DM Sans Bold"/>
                <a:ea typeface="DM Sans Bold"/>
                <a:cs typeface="DM Sans Bold"/>
                <a:sym typeface="DM Sans Bold"/>
              </a:rPr>
              <a:t>BREAKEVEN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928848" y="3643865"/>
            <a:ext cx="1938528" cy="613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94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AT 100 PREMIUM USERS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8486775" y="8782050"/>
            <a:ext cx="7848600" cy="219075"/>
          </a:xfrm>
          <a:custGeom>
            <a:avLst/>
            <a:gdLst/>
            <a:ahLst/>
            <a:cxnLst/>
            <a:rect r="r" b="b" t="t" l="l"/>
            <a:pathLst>
              <a:path h="219075" w="7848600">
                <a:moveTo>
                  <a:pt x="0" y="0"/>
                </a:moveTo>
                <a:lnTo>
                  <a:pt x="7848600" y="0"/>
                </a:lnTo>
                <a:lnTo>
                  <a:pt x="7848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694944" y="675948"/>
            <a:ext cx="6309360" cy="2356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1"/>
              </a:lnSpc>
            </a:pPr>
            <a:r>
              <a:rPr lang="en-US" sz="8327" b="true">
                <a:solidFill>
                  <a:srgbClr val="FFFFFF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MAKING IT </a:t>
            </a:r>
            <a:r>
              <a:rPr lang="en-US" sz="8327" b="true">
                <a:solidFill>
                  <a:srgbClr val="F58227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SUSTAINABLE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86775" y="428625"/>
            <a:ext cx="9801225" cy="9858375"/>
          </a:xfrm>
          <a:custGeom>
            <a:avLst/>
            <a:gdLst/>
            <a:ahLst/>
            <a:cxnLst/>
            <a:rect r="r" b="b" t="t" l="l"/>
            <a:pathLst>
              <a:path h="9858375" w="9801225">
                <a:moveTo>
                  <a:pt x="0" y="0"/>
                </a:moveTo>
                <a:lnTo>
                  <a:pt x="9801225" y="0"/>
                </a:lnTo>
                <a:lnTo>
                  <a:pt x="9801225" y="9858375"/>
                </a:lnTo>
                <a:lnTo>
                  <a:pt x="0" y="9858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8368" y="960767"/>
            <a:ext cx="4553712" cy="1076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02"/>
              </a:lnSpc>
            </a:pPr>
            <a:r>
              <a:rPr lang="en-US" sz="7548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WHY THIS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8368" y="1694472"/>
            <a:ext cx="5596128" cy="1708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3"/>
              </a:lnSpc>
            </a:pPr>
            <a:r>
              <a:rPr lang="en-US" sz="9994" b="true">
                <a:solidFill>
                  <a:srgbClr val="F47C2C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MATTERS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3000375"/>
            <a:ext cx="1971675" cy="219075"/>
          </a:xfrm>
          <a:custGeom>
            <a:avLst/>
            <a:gdLst/>
            <a:ahLst/>
            <a:cxnLst/>
            <a:rect r="r" b="b" t="t" l="l"/>
            <a:pathLst>
              <a:path h="219075" w="1971675">
                <a:moveTo>
                  <a:pt x="0" y="0"/>
                </a:moveTo>
                <a:lnTo>
                  <a:pt x="1971675" y="0"/>
                </a:lnTo>
                <a:lnTo>
                  <a:pt x="197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58368" y="3386687"/>
            <a:ext cx="5705856" cy="966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6"/>
              </a:lnSpc>
            </a:pPr>
            <a:r>
              <a:rPr lang="en-US" sz="28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Fewer missed bills, broken habits, skipped vehicle services.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8368" y="4497683"/>
            <a:ext cx="4681728" cy="966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6"/>
              </a:lnSpc>
            </a:pPr>
            <a:r>
              <a:rPr lang="en-US" sz="28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One reliable app instead of five forgotten apps.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7700" y="5781675"/>
            <a:ext cx="7410450" cy="219075"/>
          </a:xfrm>
          <a:custGeom>
            <a:avLst/>
            <a:gdLst/>
            <a:ahLst/>
            <a:cxnLst/>
            <a:rect r="r" b="b" t="t" l="l"/>
            <a:pathLst>
              <a:path h="219075" w="7410450">
                <a:moveTo>
                  <a:pt x="0" y="0"/>
                </a:moveTo>
                <a:lnTo>
                  <a:pt x="7410450" y="0"/>
                </a:lnTo>
                <a:lnTo>
                  <a:pt x="7410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8368" y="6203575"/>
            <a:ext cx="7022592" cy="580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LET’S BUILD </a:t>
            </a:r>
            <a:r>
              <a:rPr lang="en-US" sz="3400" b="true">
                <a:solidFill>
                  <a:srgbClr val="F47C2C"/>
                </a:solidFill>
                <a:latin typeface="DM Sans Bold"/>
                <a:ea typeface="DM Sans Bold"/>
                <a:cs typeface="DM Sans Bold"/>
                <a:sym typeface="DM Sans Bold"/>
              </a:rPr>
              <a:t>REMINDIT</a:t>
            </a:r>
            <a:r>
              <a:rPr lang="en-US" sz="34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TOGETHER.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8368" y="6913328"/>
            <a:ext cx="7333488" cy="45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8"/>
              </a:lnSpc>
            </a:pPr>
            <a:r>
              <a:rPr lang="en-US" sz="2691" b="true">
                <a:solidFill>
                  <a:srgbClr val="F47C2C"/>
                </a:solidFill>
                <a:latin typeface="DM Sans Bold"/>
                <a:ea typeface="DM Sans Bold"/>
                <a:cs typeface="DM Sans Bold"/>
                <a:sym typeface="DM Sans Bold"/>
              </a:rPr>
              <a:t>Mentor</a:t>
            </a:r>
            <a:r>
              <a:rPr lang="en-US" sz="2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with subscription product experience.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8368" y="7470626"/>
            <a:ext cx="6236208" cy="966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6"/>
              </a:lnSpc>
            </a:pPr>
            <a:r>
              <a:rPr lang="en-US" sz="28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Join </a:t>
            </a:r>
            <a:r>
              <a:rPr lang="en-US" sz="2833" b="true">
                <a:solidFill>
                  <a:srgbClr val="F47C2C"/>
                </a:solidFill>
                <a:latin typeface="DM Sans Bold"/>
                <a:ea typeface="DM Sans Bold"/>
                <a:cs typeface="DM Sans Bold"/>
                <a:sym typeface="DM Sans Bold"/>
              </a:rPr>
              <a:t>10 pilot users</a:t>
            </a:r>
            <a:r>
              <a:rPr lang="en-US" sz="28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to try the MVP and share weekly feedback.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7700" y="8572500"/>
            <a:ext cx="8067675" cy="1285875"/>
          </a:xfrm>
          <a:custGeom>
            <a:avLst/>
            <a:gdLst/>
            <a:ahLst/>
            <a:cxnLst/>
            <a:rect r="r" b="b" t="t" l="l"/>
            <a:pathLst>
              <a:path h="1285875" w="8067675">
                <a:moveTo>
                  <a:pt x="0" y="0"/>
                </a:moveTo>
                <a:lnTo>
                  <a:pt x="8067675" y="0"/>
                </a:lnTo>
                <a:lnTo>
                  <a:pt x="80676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60704" y="8936055"/>
            <a:ext cx="2084832" cy="588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3471" b="true">
                <a:solidFill>
                  <a:srgbClr val="F47C2C"/>
                </a:solidFill>
                <a:latin typeface="DM Sans Bold"/>
                <a:ea typeface="DM Sans Bold"/>
                <a:cs typeface="DM Sans Bold"/>
                <a:sym typeface="DM Sans Bold"/>
              </a:rPr>
              <a:t>Pujithran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257550" y="900112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054096" y="8936055"/>
            <a:ext cx="5486400" cy="588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9473" indent="-374737" lvl="1">
              <a:lnSpc>
                <a:spcPts val="4859"/>
              </a:lnSpc>
              <a:buFont typeface="Arial"/>
              <a:buChar char="•"/>
            </a:pPr>
            <a:r>
              <a:rPr lang="en-US" sz="347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puji33an@gmail.com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DAHTLNJi2Mk</dc:identifier>
  <dcterms:modified xsi:type="dcterms:W3CDTF">2011-08-01T06:04:30Z</dcterms:modified>
  <cp:revision>1</cp:revision>
  <dc:title>Remind IT</dc:title>
</cp:coreProperties>
</file>